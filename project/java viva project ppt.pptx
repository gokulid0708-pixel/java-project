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Big Shoulders Display" charset="1" panose="00000000000000000000"/>
      <p:regular r:id="rId20"/>
    </p:embeddedFont>
    <p:embeddedFont>
      <p:font typeface="Arimo" charset="1" panose="020B060402020202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-15002" y="-3"/>
            <a:ext cx="6104906" cy="10287000"/>
            <a:chOff x="0" y="0"/>
            <a:chExt cx="8139874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39811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8139811">
                  <a:moveTo>
                    <a:pt x="0" y="0"/>
                  </a:moveTo>
                  <a:lnTo>
                    <a:pt x="8139811" y="0"/>
                  </a:lnTo>
                  <a:lnTo>
                    <a:pt x="8139811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65058" y="960120"/>
            <a:ext cx="5144786" cy="8419852"/>
            <a:chOff x="0" y="0"/>
            <a:chExt cx="6859714" cy="1122647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5971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6859710">
                  <a:moveTo>
                    <a:pt x="0" y="0"/>
                  </a:moveTo>
                  <a:lnTo>
                    <a:pt x="6859710" y="0"/>
                  </a:lnTo>
                  <a:lnTo>
                    <a:pt x="685971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59979" t="0" r="-159979" b="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152400"/>
              <a:ext cx="6859714" cy="110740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7095449" y="3214659"/>
            <a:ext cx="10666771" cy="40130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Project Title:” Loan Eligibility Verification and EMI Payment Tracking  System”</a:t>
            </a:r>
          </a:p>
          <a:p>
            <a:pPr algn="l">
              <a:lnSpc>
                <a:spcPts val="2916"/>
              </a:lnSpc>
            </a:pPr>
          </a:p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Course: Java Programming Lab / Mini Project</a:t>
            </a:r>
          </a:p>
          <a:p>
            <a:pPr algn="l">
              <a:lnSpc>
                <a:spcPts val="2916"/>
              </a:lnSpc>
            </a:pPr>
          </a:p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Student Name &amp; Roll No: GOKUL M – 25BCS112</a:t>
            </a:r>
          </a:p>
          <a:p>
            <a:pPr algn="l">
              <a:lnSpc>
                <a:spcPts val="2916"/>
              </a:lnSpc>
            </a:pPr>
          </a:p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Department: Computer Science</a:t>
            </a:r>
          </a:p>
          <a:p>
            <a:pPr algn="l">
              <a:lnSpc>
                <a:spcPts val="2916"/>
              </a:lnSpc>
            </a:pPr>
          </a:p>
          <a:p>
            <a:pPr algn="l" marL="488632" indent="-244316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Mentor / Guide:Aravind</a:t>
            </a:r>
          </a:p>
          <a:p>
            <a:pPr algn="l" marL="488632" indent="-244316" lvl="1">
              <a:lnSpc>
                <a:spcPts val="2916"/>
              </a:lnSpc>
              <a:buFont typeface="Arial"/>
              <a:buChar char="•"/>
            </a:pPr>
          </a:p>
        </p:txBody>
      </p:sp>
      <p:grpSp>
        <p:nvGrpSpPr>
          <p:cNvPr name="Group 9" id="9"/>
          <p:cNvGrpSpPr/>
          <p:nvPr/>
        </p:nvGrpSpPr>
        <p:grpSpPr>
          <a:xfrm rot="0">
            <a:off x="7049729" y="349996"/>
            <a:ext cx="10115864" cy="2528964"/>
            <a:chOff x="0" y="0"/>
            <a:chExt cx="13487819" cy="3371952"/>
          </a:xfrm>
        </p:grpSpPr>
        <p:sp>
          <p:nvSpPr>
            <p:cNvPr name="Freeform 10" id="10" descr="A blue and red logo  AI-generated content may be incorrect."/>
            <p:cNvSpPr/>
            <p:nvPr/>
          </p:nvSpPr>
          <p:spPr>
            <a:xfrm flipH="false" flipV="false" rot="0">
              <a:off x="0" y="0"/>
              <a:ext cx="13487781" cy="3371977"/>
            </a:xfrm>
            <a:custGeom>
              <a:avLst/>
              <a:gdLst/>
              <a:ahLst/>
              <a:cxnLst/>
              <a:rect r="r" b="b" t="t" l="l"/>
              <a:pathLst>
                <a:path h="3371977" w="13487781">
                  <a:moveTo>
                    <a:pt x="0" y="0"/>
                  </a:moveTo>
                  <a:lnTo>
                    <a:pt x="13487781" y="0"/>
                  </a:lnTo>
                  <a:lnTo>
                    <a:pt x="13487781" y="3371977"/>
                  </a:lnTo>
                  <a:lnTo>
                    <a:pt x="0" y="33719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7817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Introduction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4796511" y="4050263"/>
            <a:ext cx="12581648" cy="3500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1889" indent="-310945" lvl="1">
              <a:lnSpc>
                <a:spcPts val="3110"/>
              </a:lnSpc>
              <a:buFont typeface="Arial"/>
              <a:buChar char="•"/>
            </a:pPr>
            <a:r>
              <a:rPr lang="en-US" sz="288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</a:t>
            </a:r>
            <a:r>
              <a:rPr lang="en-US" sz="288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his project is developed to automate loan eligibility checking and EMI tracking</a:t>
            </a:r>
          </a:p>
          <a:p>
            <a:pPr algn="l">
              <a:lnSpc>
                <a:spcPts val="3110"/>
              </a:lnSpc>
            </a:pPr>
          </a:p>
          <a:p>
            <a:pPr algn="l" marL="621889" indent="-310945" lvl="1">
              <a:lnSpc>
                <a:spcPts val="3110"/>
              </a:lnSpc>
              <a:buFont typeface="Arial"/>
              <a:buChar char="•"/>
            </a:pPr>
            <a:r>
              <a:rPr lang="en-US" sz="288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Helps users calculate EMI easily</a:t>
            </a:r>
          </a:p>
          <a:p>
            <a:pPr algn="l">
              <a:lnSpc>
                <a:spcPts val="3110"/>
              </a:lnSpc>
            </a:pPr>
          </a:p>
          <a:p>
            <a:pPr algn="l" marL="621889" indent="-310945" lvl="1">
              <a:lnSpc>
                <a:spcPts val="3110"/>
              </a:lnSpc>
              <a:buFont typeface="Arial"/>
              <a:buChar char="•"/>
            </a:pPr>
            <a:r>
              <a:rPr lang="en-US" sz="288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Reduces manual errors in financial calculations</a:t>
            </a:r>
          </a:p>
          <a:p>
            <a:pPr algn="l">
              <a:lnSpc>
                <a:spcPts val="3110"/>
              </a:lnSpc>
            </a:pPr>
          </a:p>
          <a:p>
            <a:pPr algn="l" marL="621889" indent="-310945" lvl="1">
              <a:lnSpc>
                <a:spcPts val="3110"/>
              </a:lnSpc>
              <a:buFont typeface="Arial"/>
              <a:buChar char="•"/>
            </a:pPr>
            <a:r>
              <a:rPr lang="en-US" sz="288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Useful for individuals to manage loans efficiently</a:t>
            </a:r>
          </a:p>
          <a:p>
            <a:pPr algn="l">
              <a:lnSpc>
                <a:spcPts val="3110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Objective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789045"/>
            <a:ext cx="11793455" cy="4375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Main goals of the project: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To verify loan eligibility based on income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To calculate EMI automatically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To track EMI payments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To apply Java programming concepts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To develop problem-solving skills</a:t>
            </a:r>
          </a:p>
          <a:p>
            <a:pPr algn="l">
              <a:lnSpc>
                <a:spcPts val="2916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Problem Statement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789045"/>
            <a:ext cx="11793455" cy="4375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Manual loan cal</a:t>
            </a: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culation is difficult and time-consuming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High chance of errors in EMI calculation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No proper system to track EMI payments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Users find it hard to monitor loan progress</a:t>
            </a:r>
          </a:p>
          <a:p>
            <a:pPr algn="l">
              <a:lnSpc>
                <a:spcPts val="2916"/>
              </a:lnSpc>
            </a:pPr>
          </a:p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Solution:</a:t>
            </a:r>
          </a:p>
          <a:p>
            <a:pPr algn="l">
              <a:lnSpc>
                <a:spcPts val="2916"/>
              </a:lnSpc>
            </a:pPr>
          </a:p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 This project provides an automated system to solve these problems.</a:t>
            </a:r>
          </a:p>
          <a:p>
            <a:pPr algn="l">
              <a:lnSpc>
                <a:spcPts val="2916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68645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System Requirements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789045"/>
            <a:ext cx="11793455" cy="4901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Hardware Requirements:</a:t>
            </a:r>
          </a:p>
          <a:p>
            <a:pPr algn="l">
              <a:lnSpc>
                <a:spcPts val="2430"/>
              </a:lnSpc>
            </a:pPr>
          </a:p>
          <a:p>
            <a:pPr algn="l" marL="485775" indent="-242888" lvl="1">
              <a:lnSpc>
                <a:spcPts val="2430"/>
              </a:lnSpc>
              <a:buFont typeface="Arial"/>
              <a:buChar char="•"/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Processor: Intel i3 or higher</a:t>
            </a:r>
          </a:p>
          <a:p>
            <a:pPr algn="l">
              <a:lnSpc>
                <a:spcPts val="2430"/>
              </a:lnSpc>
            </a:pPr>
          </a:p>
          <a:p>
            <a:pPr algn="l" marL="485775" indent="-242888" lvl="1">
              <a:lnSpc>
                <a:spcPts val="2430"/>
              </a:lnSpc>
              <a:buFont typeface="Arial"/>
              <a:buChar char="•"/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RAM: 4 GB</a:t>
            </a:r>
          </a:p>
          <a:p>
            <a:pPr algn="l">
              <a:lnSpc>
                <a:spcPts val="2430"/>
              </a:lnSpc>
            </a:pPr>
          </a:p>
          <a:p>
            <a:pPr algn="l" marL="485775" indent="-242888" lvl="1">
              <a:lnSpc>
                <a:spcPts val="2430"/>
              </a:lnSpc>
              <a:buFont typeface="Arial"/>
              <a:buChar char="•"/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Storage: 500 MB</a:t>
            </a:r>
          </a:p>
          <a:p>
            <a:pPr algn="l">
              <a:lnSpc>
                <a:spcPts val="2430"/>
              </a:lnSpc>
            </a:pPr>
          </a:p>
          <a:p>
            <a:pPr algn="l">
              <a:lnSpc>
                <a:spcPts val="2430"/>
              </a:lnSpc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Software Requirements:</a:t>
            </a:r>
          </a:p>
          <a:p>
            <a:pPr algn="l">
              <a:lnSpc>
                <a:spcPts val="2430"/>
              </a:lnSpc>
            </a:pPr>
          </a:p>
          <a:p>
            <a:pPr algn="l" marL="485775" indent="-242888" lvl="1">
              <a:lnSpc>
                <a:spcPts val="2430"/>
              </a:lnSpc>
              <a:buFont typeface="Arial"/>
              <a:buChar char="•"/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Operating System: Windows / Linux</a:t>
            </a:r>
          </a:p>
          <a:p>
            <a:pPr algn="l">
              <a:lnSpc>
                <a:spcPts val="2430"/>
              </a:lnSpc>
            </a:pPr>
          </a:p>
          <a:p>
            <a:pPr algn="l" marL="485775" indent="-242888" lvl="1">
              <a:lnSpc>
                <a:spcPts val="2430"/>
              </a:lnSpc>
              <a:buFont typeface="Arial"/>
              <a:buChar char="•"/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Language: Java</a:t>
            </a:r>
          </a:p>
          <a:p>
            <a:pPr algn="l">
              <a:lnSpc>
                <a:spcPts val="2430"/>
              </a:lnSpc>
            </a:pPr>
          </a:p>
          <a:p>
            <a:pPr algn="l" marL="485775" indent="-242888" lvl="1">
              <a:lnSpc>
                <a:spcPts val="2430"/>
              </a:lnSpc>
              <a:buFont typeface="Arial"/>
              <a:buChar char="•"/>
            </a:pPr>
            <a:r>
              <a:rPr lang="en-US" sz="225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Tools: JDK, VS Code / IntelliJ / Eclipse</a:t>
            </a:r>
          </a:p>
          <a:p>
            <a:pPr algn="l">
              <a:lnSpc>
                <a:spcPts val="2430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System Design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4973503" y="3441573"/>
            <a:ext cx="11793455" cy="5460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System workflow: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User enters financial details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System checks eligibility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EMI is calculated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Payment tracking is performed</a:t>
            </a:r>
          </a:p>
          <a:p>
            <a:pPr algn="l">
              <a:lnSpc>
                <a:spcPts val="2916"/>
              </a:lnSpc>
            </a:pPr>
          </a:p>
          <a:p>
            <a:pPr algn="l">
              <a:lnSpc>
                <a:spcPts val="2916"/>
              </a:lnSpc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Include:</a:t>
            </a:r>
          </a:p>
          <a:p>
            <a:pPr algn="l">
              <a:lnSpc>
                <a:spcPts val="2916"/>
              </a:lnSpc>
            </a:pP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Flowchart</a:t>
            </a:r>
          </a:p>
          <a:p>
            <a:pPr algn="l" marL="582930" indent="-291465" lvl="1">
              <a:lnSpc>
                <a:spcPts val="2916"/>
              </a:lnSpc>
              <a:buFont typeface="Arial"/>
              <a:buChar char="•"/>
            </a:pPr>
            <a:r>
              <a:rPr lang="en-US" sz="270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Algorithm</a:t>
            </a:r>
          </a:p>
          <a:p>
            <a:pPr algn="l">
              <a:lnSpc>
                <a:spcPts val="2916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Module Description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4973503" y="3575747"/>
            <a:ext cx="11793455" cy="4531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9"/>
              </a:lnSpc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Input Module</a:t>
            </a:r>
          </a:p>
          <a:p>
            <a:pPr algn="l" marL="647698" indent="-323849" lvl="1">
              <a:lnSpc>
                <a:spcPts val="3239"/>
              </a:lnSpc>
              <a:buFont typeface="Arial"/>
              <a:buChar char="•"/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Takes income, loan amount, interest rate, duration</a:t>
            </a:r>
          </a:p>
          <a:p>
            <a:pPr algn="l">
              <a:lnSpc>
                <a:spcPts val="3239"/>
              </a:lnSpc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Processing Module</a:t>
            </a:r>
          </a:p>
          <a:p>
            <a:pPr algn="l" marL="647698" indent="-323849" lvl="1">
              <a:lnSpc>
                <a:spcPts val="3239"/>
              </a:lnSpc>
              <a:buFont typeface="Arial"/>
              <a:buChar char="•"/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Checks eligibility</a:t>
            </a:r>
          </a:p>
          <a:p>
            <a:pPr algn="l" marL="647698" indent="-323849" lvl="1">
              <a:lnSpc>
                <a:spcPts val="3239"/>
              </a:lnSpc>
              <a:buFont typeface="Arial"/>
              <a:buChar char="•"/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Calculates EMI</a:t>
            </a:r>
          </a:p>
          <a:p>
            <a:pPr algn="l">
              <a:lnSpc>
                <a:spcPts val="3239"/>
              </a:lnSpc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Tracking Module</a:t>
            </a:r>
          </a:p>
          <a:p>
            <a:pPr algn="l" marL="647698" indent="-323849" lvl="1">
              <a:lnSpc>
                <a:spcPts val="3239"/>
              </a:lnSpc>
              <a:buFont typeface="Arial"/>
              <a:buChar char="•"/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Tracks paid EMIs</a:t>
            </a:r>
          </a:p>
          <a:p>
            <a:pPr algn="l" marL="647698" indent="-323849" lvl="1">
              <a:lnSpc>
                <a:spcPts val="3239"/>
              </a:lnSpc>
              <a:buFont typeface="Arial"/>
              <a:buChar char="•"/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Calculates remaining EMIs</a:t>
            </a:r>
          </a:p>
          <a:p>
            <a:pPr algn="l">
              <a:lnSpc>
                <a:spcPts val="3239"/>
              </a:lnSpc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Output Module</a:t>
            </a:r>
          </a:p>
          <a:p>
            <a:pPr algn="l" marL="647698" indent="-323849" lvl="1">
              <a:lnSpc>
                <a:spcPts val="3239"/>
              </a:lnSpc>
              <a:buFont typeface="Arial"/>
              <a:buChar char="•"/>
            </a:pPr>
            <a:r>
              <a:rPr lang="en-US" sz="299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Displays results</a:t>
            </a:r>
          </a:p>
          <a:p>
            <a:pPr algn="l" marL="542924" indent="-271462" lvl="1">
              <a:lnSpc>
                <a:spcPts val="3239"/>
              </a:lnSpc>
              <a:buFont typeface="Arial"/>
              <a:buChar char="•"/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Algorithm / Flowchart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789045"/>
            <a:ext cx="8174561" cy="4563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Start</a:t>
            </a:r>
          </a:p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Enter income</a:t>
            </a:r>
          </a:p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Enter loan details</a:t>
            </a:r>
          </a:p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Check eligibility</a:t>
            </a:r>
          </a:p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If eligible → calculate EMI</a:t>
            </a:r>
          </a:p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Enter EMIs paid</a:t>
            </a:r>
          </a:p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Display remaining EMIs</a:t>
            </a:r>
          </a:p>
          <a:p>
            <a:pPr algn="l" marL="808109" indent="-404054" lvl="1">
              <a:lnSpc>
                <a:spcPts val="4042"/>
              </a:lnSpc>
              <a:buFont typeface="Arial"/>
              <a:buChar char="•"/>
            </a:pPr>
            <a:r>
              <a:rPr lang="en-US" sz="374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Stop</a:t>
            </a:r>
          </a:p>
          <a:p>
            <a:pPr algn="l">
              <a:lnSpc>
                <a:spcPts val="4042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Implementation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817620"/>
            <a:ext cx="9439448" cy="3504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7"/>
              </a:lnSpc>
            </a:pPr>
            <a:r>
              <a:rPr lang="en-US" sz="432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Techniques used:</a:t>
            </a:r>
          </a:p>
          <a:p>
            <a:pPr algn="l" marL="933151" indent="-466576" lvl="1">
              <a:lnSpc>
                <a:spcPts val="4667"/>
              </a:lnSpc>
              <a:buFont typeface="Arial"/>
              <a:buChar char="•"/>
            </a:pPr>
            <a:r>
              <a:rPr lang="en-US" sz="432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Java programming</a:t>
            </a:r>
          </a:p>
          <a:p>
            <a:pPr algn="l" marL="933151" indent="-466576" lvl="1">
              <a:lnSpc>
                <a:spcPts val="4667"/>
              </a:lnSpc>
              <a:buFont typeface="Arial"/>
              <a:buChar char="•"/>
            </a:pPr>
            <a:r>
              <a:rPr lang="en-US" sz="432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Conditional statements (if-else)</a:t>
            </a:r>
          </a:p>
          <a:p>
            <a:pPr algn="l" marL="933151" indent="-466576" lvl="1">
              <a:lnSpc>
                <a:spcPts val="4667"/>
              </a:lnSpc>
              <a:buFont typeface="Arial"/>
              <a:buChar char="•"/>
            </a:pPr>
            <a:r>
              <a:rPr lang="en-US" sz="432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Functions (EMI calculation)</a:t>
            </a:r>
          </a:p>
          <a:p>
            <a:pPr algn="l" marL="933151" indent="-466576" lvl="1">
              <a:lnSpc>
                <a:spcPts val="4667"/>
              </a:lnSpc>
              <a:buFont typeface="Arial"/>
              <a:buChar char="•"/>
            </a:pPr>
            <a:r>
              <a:rPr lang="en-US" sz="4322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Scanner class for input</a:t>
            </a:r>
          </a:p>
          <a:p>
            <a:pPr algn="l">
              <a:lnSpc>
                <a:spcPts val="4667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Output Screens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6623791" y="3451098"/>
            <a:ext cx="6000729" cy="5136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37"/>
              </a:lnSpc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Input: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Income: 30000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Loan: 100000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Interest: 10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Time: 2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EMIs Paid: 10</a:t>
            </a:r>
          </a:p>
          <a:p>
            <a:pPr algn="l">
              <a:lnSpc>
                <a:spcPts val="3737"/>
              </a:lnSpc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Output: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Eligible for loan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EMI: 4614.49</a:t>
            </a:r>
          </a:p>
          <a:p>
            <a:pPr algn="l" marL="747170" indent="-373585" lvl="1">
              <a:lnSpc>
                <a:spcPts val="3737"/>
              </a:lnSpc>
              <a:buFont typeface="Arial"/>
              <a:buChar char="•"/>
            </a:pPr>
            <a:r>
              <a:rPr lang="en-US" sz="3460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Remaining EMIs: 14</a:t>
            </a:r>
          </a:p>
          <a:p>
            <a:pPr algn="l">
              <a:lnSpc>
                <a:spcPts val="3737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Results &amp; Discussion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798570"/>
            <a:ext cx="9789098" cy="3889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75789" indent="-387895" lvl="1">
              <a:lnSpc>
                <a:spcPts val="3880"/>
              </a:lnSpc>
              <a:buFont typeface="Arial"/>
              <a:buChar char="•"/>
            </a:pPr>
            <a:r>
              <a:rPr lang="en-US" sz="3593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System gives accurate EMI calculation</a:t>
            </a:r>
          </a:p>
          <a:p>
            <a:pPr algn="l" marL="775789" indent="-387895" lvl="1">
              <a:lnSpc>
                <a:spcPts val="3880"/>
              </a:lnSpc>
              <a:buFont typeface="Arial"/>
              <a:buChar char="•"/>
            </a:pPr>
            <a:r>
              <a:rPr lang="en-US" sz="3593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Eligibility check works correctly</a:t>
            </a:r>
          </a:p>
          <a:p>
            <a:pPr algn="l" marL="775789" indent="-387895" lvl="1">
              <a:lnSpc>
                <a:spcPts val="3880"/>
              </a:lnSpc>
              <a:buFont typeface="Arial"/>
              <a:buChar char="•"/>
            </a:pPr>
            <a:r>
              <a:rPr lang="en-US" sz="3593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Easy to use</a:t>
            </a:r>
          </a:p>
          <a:p>
            <a:pPr algn="l" marL="775789" indent="-387895" lvl="1">
              <a:lnSpc>
                <a:spcPts val="3880"/>
              </a:lnSpc>
              <a:buFont typeface="Arial"/>
              <a:buChar char="•"/>
            </a:pPr>
            <a:r>
              <a:rPr lang="en-US" sz="3593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Saves time and effort</a:t>
            </a:r>
          </a:p>
          <a:p>
            <a:pPr algn="l">
              <a:lnSpc>
                <a:spcPts val="3880"/>
              </a:lnSpc>
            </a:pPr>
            <a:r>
              <a:rPr lang="en-US" sz="3593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Challenges:</a:t>
            </a:r>
          </a:p>
          <a:p>
            <a:pPr algn="l" marL="775789" indent="-387895" lvl="1">
              <a:lnSpc>
                <a:spcPts val="3880"/>
              </a:lnSpc>
              <a:buFont typeface="Arial"/>
              <a:buChar char="•"/>
            </a:pPr>
            <a:r>
              <a:rPr lang="en-US" sz="3593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Understanding EMI formula</a:t>
            </a:r>
          </a:p>
          <a:p>
            <a:pPr algn="l" marL="775789" indent="-387895" lvl="1">
              <a:lnSpc>
                <a:spcPts val="3880"/>
              </a:lnSpc>
              <a:buFont typeface="Arial"/>
              <a:buChar char="•"/>
            </a:pPr>
            <a:r>
              <a:rPr lang="en-US" sz="3593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Handling user input</a:t>
            </a:r>
          </a:p>
          <a:p>
            <a:pPr algn="l">
              <a:lnSpc>
                <a:spcPts val="3880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Conclusion &amp; Future Enhancement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798570"/>
            <a:ext cx="9016697" cy="4925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8"/>
              </a:lnSpc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Conclusion:</a:t>
            </a:r>
          </a:p>
          <a:p>
            <a:pPr algn="l" marL="779303" indent="-389652" lvl="1">
              <a:lnSpc>
                <a:spcPts val="3898"/>
              </a:lnSpc>
              <a:buFont typeface="Arial"/>
              <a:buChar char="•"/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Project successfully meets objectives</a:t>
            </a:r>
          </a:p>
          <a:p>
            <a:pPr algn="l" marL="779303" indent="-389652" lvl="1">
              <a:lnSpc>
                <a:spcPts val="3898"/>
              </a:lnSpc>
              <a:buFont typeface="Arial"/>
              <a:buChar char="•"/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Automates loan calculation process</a:t>
            </a:r>
          </a:p>
          <a:p>
            <a:pPr algn="l" marL="779303" indent="-389652" lvl="1">
              <a:lnSpc>
                <a:spcPts val="3898"/>
              </a:lnSpc>
              <a:buFont typeface="Arial"/>
              <a:buChar char="•"/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Improves accuracy</a:t>
            </a:r>
          </a:p>
          <a:p>
            <a:pPr algn="l">
              <a:lnSpc>
                <a:spcPts val="3898"/>
              </a:lnSpc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Future Enhancements:</a:t>
            </a:r>
          </a:p>
          <a:p>
            <a:pPr algn="l" marL="779303" indent="-389652" lvl="1">
              <a:lnSpc>
                <a:spcPts val="3898"/>
              </a:lnSpc>
              <a:buFont typeface="Arial"/>
              <a:buChar char="•"/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Add GUI interface</a:t>
            </a:r>
          </a:p>
          <a:p>
            <a:pPr algn="l" marL="779303" indent="-389652" lvl="1">
              <a:lnSpc>
                <a:spcPts val="3898"/>
              </a:lnSpc>
              <a:buFont typeface="Arial"/>
              <a:buChar char="•"/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Add database storage</a:t>
            </a:r>
          </a:p>
          <a:p>
            <a:pPr algn="l" marL="779303" indent="-389652" lvl="1">
              <a:lnSpc>
                <a:spcPts val="3898"/>
              </a:lnSpc>
              <a:buFont typeface="Arial"/>
              <a:buChar char="•"/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Multi-user system</a:t>
            </a:r>
          </a:p>
          <a:p>
            <a:pPr algn="l" marL="779303" indent="-389652" lvl="1">
              <a:lnSpc>
                <a:spcPts val="3898"/>
              </a:lnSpc>
              <a:buFont typeface="Arial"/>
              <a:buChar char="•"/>
            </a:pPr>
            <a:r>
              <a:rPr lang="en-US" sz="3609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Mobile app version</a:t>
            </a:r>
          </a:p>
          <a:p>
            <a:pPr algn="l">
              <a:lnSpc>
                <a:spcPts val="3898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159120" y="726948"/>
            <a:ext cx="13422220" cy="8821379"/>
            <a:chOff x="0" y="0"/>
            <a:chExt cx="17896294" cy="1176183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96332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17896332">
                  <a:moveTo>
                    <a:pt x="0" y="0"/>
                  </a:moveTo>
                  <a:lnTo>
                    <a:pt x="17896332" y="0"/>
                  </a:lnTo>
                  <a:lnTo>
                    <a:pt x="17896332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404040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5203993" y="1182624"/>
            <a:ext cx="11884895" cy="2249424"/>
            <a:chOff x="0" y="0"/>
            <a:chExt cx="15846527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846529" cy="2999232"/>
            </a:xfrm>
            <a:custGeom>
              <a:avLst/>
              <a:gdLst/>
              <a:ahLst/>
              <a:cxnLst/>
              <a:rect r="r" b="b" t="t" l="l"/>
              <a:pathLst>
                <a:path h="2999232" w="15846529">
                  <a:moveTo>
                    <a:pt x="0" y="0"/>
                  </a:moveTo>
                  <a:lnTo>
                    <a:pt x="15846529" y="0"/>
                  </a:lnTo>
                  <a:lnTo>
                    <a:pt x="15846529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52949" r="0" b="-5294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15846527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References / Acknowledgement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12727" y="726948"/>
            <a:ext cx="3193399" cy="8821379"/>
            <a:chOff x="0" y="0"/>
            <a:chExt cx="4257866" cy="1176183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257929" cy="11761851"/>
            </a:xfrm>
            <a:custGeom>
              <a:avLst/>
              <a:gdLst/>
              <a:ahLst/>
              <a:cxnLst/>
              <a:rect r="r" b="b" t="t" l="l"/>
              <a:pathLst>
                <a:path h="11761851" w="4257929">
                  <a:moveTo>
                    <a:pt x="0" y="0"/>
                  </a:moveTo>
                  <a:lnTo>
                    <a:pt x="4257929" y="0"/>
                  </a:lnTo>
                  <a:lnTo>
                    <a:pt x="4257929" y="11761851"/>
                  </a:lnTo>
                  <a:lnTo>
                    <a:pt x="0" y="11761851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sp>
        <p:nvSpPr>
          <p:cNvPr name="AutoShape 12" id="12"/>
          <p:cNvSpPr/>
          <p:nvPr/>
        </p:nvSpPr>
        <p:spPr>
          <a:xfrm rot="-5329860">
            <a:off x="4110561" y="22205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3" id="13"/>
          <p:cNvSpPr txBox="true"/>
          <p:nvPr/>
        </p:nvSpPr>
        <p:spPr>
          <a:xfrm rot="0">
            <a:off x="5249713" y="3808095"/>
            <a:ext cx="10258381" cy="394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98"/>
              </a:lnSpc>
            </a:pPr>
            <a:r>
              <a:rPr lang="en-US" sz="4165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References:</a:t>
            </a:r>
          </a:p>
          <a:p>
            <a:pPr algn="l" marL="899243" indent="-449621" lvl="1">
              <a:lnSpc>
                <a:spcPts val="4498"/>
              </a:lnSpc>
              <a:buFont typeface="Arial"/>
              <a:buChar char="•"/>
            </a:pPr>
            <a:r>
              <a:rPr lang="en-US" sz="4165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Java Programming Books</a:t>
            </a:r>
          </a:p>
          <a:p>
            <a:pPr algn="l" marL="899243" indent="-449621" lvl="1">
              <a:lnSpc>
                <a:spcPts val="4498"/>
              </a:lnSpc>
              <a:buFont typeface="Arial"/>
              <a:buChar char="•"/>
            </a:pPr>
            <a:r>
              <a:rPr lang="en-US" sz="4165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GeeksforGeeks</a:t>
            </a:r>
          </a:p>
          <a:p>
            <a:pPr algn="l" marL="899243" indent="-449621" lvl="1">
              <a:lnSpc>
                <a:spcPts val="4498"/>
              </a:lnSpc>
              <a:buFont typeface="Arial"/>
              <a:buChar char="•"/>
            </a:pPr>
            <a:r>
              <a:rPr lang="en-US" sz="4165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W3Schools</a:t>
            </a:r>
          </a:p>
          <a:p>
            <a:pPr algn="l">
              <a:lnSpc>
                <a:spcPts val="4498"/>
              </a:lnSpc>
            </a:pPr>
            <a:r>
              <a:rPr lang="en-US" sz="4165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Acknowledgement:</a:t>
            </a:r>
          </a:p>
          <a:p>
            <a:pPr algn="l" marL="899243" indent="-449621" lvl="1">
              <a:lnSpc>
                <a:spcPts val="4498"/>
              </a:lnSpc>
              <a:buFont typeface="Arial"/>
              <a:buChar char="•"/>
            </a:pPr>
            <a:r>
              <a:rPr lang="en-US" sz="4165">
                <a:solidFill>
                  <a:srgbClr val="1CADE4"/>
                </a:solidFill>
                <a:latin typeface="Arimo"/>
                <a:ea typeface="Arimo"/>
                <a:cs typeface="Arimo"/>
                <a:sym typeface="Arimo"/>
              </a:rPr>
              <a:t>Thanks to my guide and department</a:t>
            </a:r>
          </a:p>
          <a:p>
            <a:pPr algn="l">
              <a:lnSpc>
                <a:spcPts val="4498"/>
              </a:lnSpc>
            </a:pPr>
          </a:p>
        </p:txBody>
      </p:sp>
      <p:grpSp>
        <p:nvGrpSpPr>
          <p:cNvPr name="Group 14" id="14"/>
          <p:cNvGrpSpPr/>
          <p:nvPr/>
        </p:nvGrpSpPr>
        <p:grpSpPr>
          <a:xfrm rot="0">
            <a:off x="849678" y="982247"/>
            <a:ext cx="2816981" cy="704250"/>
            <a:chOff x="0" y="0"/>
            <a:chExt cx="3755974" cy="939000"/>
          </a:xfrm>
        </p:grpSpPr>
        <p:sp>
          <p:nvSpPr>
            <p:cNvPr name="Freeform 15" id="15" descr="A blue and red logo  AI-generated content may be incorrect."/>
            <p:cNvSpPr/>
            <p:nvPr/>
          </p:nvSpPr>
          <p:spPr>
            <a:xfrm flipH="false" flipV="false" rot="0">
              <a:off x="0" y="0"/>
              <a:ext cx="3756025" cy="939038"/>
            </a:xfrm>
            <a:custGeom>
              <a:avLst/>
              <a:gdLst/>
              <a:ahLst/>
              <a:cxnLst/>
              <a:rect r="r" b="b" t="t" l="l"/>
              <a:pathLst>
                <a:path h="939038" w="3756025">
                  <a:moveTo>
                    <a:pt x="0" y="0"/>
                  </a:moveTo>
                  <a:lnTo>
                    <a:pt x="3756025" y="0"/>
                  </a:lnTo>
                  <a:lnTo>
                    <a:pt x="3756025" y="939038"/>
                  </a:lnTo>
                  <a:lnTo>
                    <a:pt x="0" y="9390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4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49678" y="884901"/>
            <a:ext cx="2816981" cy="8419852"/>
            <a:chOff x="0" y="0"/>
            <a:chExt cx="3755974" cy="112264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755980" cy="11226472"/>
            </a:xfrm>
            <a:custGeom>
              <a:avLst/>
              <a:gdLst/>
              <a:ahLst/>
              <a:cxnLst/>
              <a:rect r="r" b="b" t="t" l="l"/>
              <a:pathLst>
                <a:path h="11226472" w="3755980">
                  <a:moveTo>
                    <a:pt x="0" y="0"/>
                  </a:moveTo>
                  <a:lnTo>
                    <a:pt x="3755980" y="0"/>
                  </a:lnTo>
                  <a:lnTo>
                    <a:pt x="3755980" y="11226472"/>
                  </a:lnTo>
                  <a:lnTo>
                    <a:pt x="0" y="1122647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333494" t="0" r="-333494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66675"/>
              <a:ext cx="3755974" cy="111597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3000" spc="155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C Programming Project Presentation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4FBFE">
                <a:alpha val="100000"/>
              </a:srgbClr>
            </a:gs>
            <a:gs pos="74000">
              <a:srgbClr val="99DAF3">
                <a:alpha val="100000"/>
              </a:srgbClr>
            </a:gs>
            <a:gs pos="83000">
              <a:srgbClr val="99DAF3">
                <a:alpha val="100000"/>
              </a:srgbClr>
            </a:gs>
            <a:gs pos="100000">
              <a:srgbClr val="BBE6F7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24384000" cy="13716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38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1319" y="482594"/>
            <a:ext cx="17326785" cy="9321803"/>
            <a:chOff x="0" y="0"/>
            <a:chExt cx="23102380" cy="124290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102315" cy="12429109"/>
            </a:xfrm>
            <a:custGeom>
              <a:avLst/>
              <a:gdLst/>
              <a:ahLst/>
              <a:cxnLst/>
              <a:rect r="r" b="b" t="t" l="l"/>
              <a:pathLst>
                <a:path h="12429109" w="23102315">
                  <a:moveTo>
                    <a:pt x="0" y="0"/>
                  </a:moveTo>
                  <a:lnTo>
                    <a:pt x="23102315" y="0"/>
                  </a:lnTo>
                  <a:lnTo>
                    <a:pt x="23102315" y="12429109"/>
                  </a:lnTo>
                  <a:lnTo>
                    <a:pt x="0" y="12429109"/>
                  </a:lnTo>
                  <a:close/>
                </a:path>
              </a:pathLst>
            </a:custGeom>
            <a:solidFill>
              <a:srgbClr val="1CADE4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2323595" y="1694843"/>
            <a:ext cx="15494508" cy="2249424"/>
            <a:chOff x="0" y="0"/>
            <a:chExt cx="20659344" cy="29992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659342" cy="2999232"/>
            </a:xfrm>
            <a:custGeom>
              <a:avLst/>
              <a:gdLst/>
              <a:ahLst/>
              <a:cxnLst/>
              <a:rect r="r" b="b" t="t" l="l"/>
              <a:pathLst>
                <a:path h="2999232" w="20659342">
                  <a:moveTo>
                    <a:pt x="0" y="0"/>
                  </a:moveTo>
                  <a:lnTo>
                    <a:pt x="20659342" y="0"/>
                  </a:lnTo>
                  <a:lnTo>
                    <a:pt x="20659342" y="2999232"/>
                  </a:lnTo>
                  <a:lnTo>
                    <a:pt x="0" y="29992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4217" r="0" b="-84217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152400"/>
              <a:ext cx="20659344" cy="284683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7500" spc="164">
                  <a:solidFill>
                    <a:srgbClr val="FFFFFF"/>
                  </a:solidFill>
                  <a:latin typeface="Big Shoulders Display"/>
                  <a:ea typeface="Big Shoulders Display"/>
                  <a:cs typeface="Big Shoulders Display"/>
                  <a:sym typeface="Big Shoulders Display"/>
                </a:rPr>
                <a:t>Thank You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rot="-5329860">
            <a:off x="442770" y="1915763"/>
            <a:ext cx="1400470" cy="0"/>
          </a:xfrm>
          <a:prstGeom prst="line">
            <a:avLst/>
          </a:prstGeom>
          <a:ln cap="rnd" w="19050">
            <a:solidFill>
              <a:srgbClr val="1CADE4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DAHGYLsvevo</dc:identifier>
  <dcterms:modified xsi:type="dcterms:W3CDTF">2011-08-01T06:04:30Z</dcterms:modified>
  <cp:revision>1</cp:revision>
  <dc:title>Java Programming Project Presentation Project Title: Loan Eligibility Verification and EMI Payment Tracking System Course: Java Programming Lab / Mini Project Student Name &amp; Roll No: GOKUL M – 25BCS112 Department: Computer Science Mentor / Guide: (Enter</dc:title>
</cp:coreProperties>
</file>