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7559675" cy="10691813"/>
  <p:embeddedFontLst>
    <p:embeddedFont>
      <p:font typeface="Arimo"/>
      <p:regular r:id="rId17"/>
      <p:bold r:id="rId17"/>
    </p:embeddedFont>
    <p:embeddedFont>
      <p:font typeface="Big Shoulders Display"/>
      <p:regular r:id="rId18"/>
      <p:bold r:id="rId18"/>
    </p:embeddedFont>
    <p:embeddedFont>
      <p:font typeface="Microsoft YaHei"/>
      <p:regular r:id="rId19"/>
    </p:embeddedFont>
    <p:embeddedFont>
      <p:font typeface="Mangal"/>
      <p:regular r:id="rId2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_1_Arimo_Regular.fntdata"/><Relationship Id="rId18" Type="http://schemas.openxmlformats.org/officeDocument/2006/relationships/font" Target="fonts/Font_2_Big_Shoulders_Display_Regular.fntdata"/><Relationship Id="rId19" Type="http://schemas.openxmlformats.org/officeDocument/2006/relationships/font" Target="fonts/Font_3_Microsoft_YaHei_Regular.fntdata"/><Relationship Id="rId20" Type="http://schemas.openxmlformats.org/officeDocument/2006/relationships/font" Target="fonts/Font_4_Mangal_Regular.fntdata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EBC621-9507-48A0-899A-A0A8F19E39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1CD098-A8A8-4FA1-A14A-D4B3F41132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C7F0D-CDA7-4E96-97E0-F80F48B559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4DC28C-8EA5-45E3-9BED-3E1564DE65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C721BB-BBAE-4F75-A8EB-ECFFCD918A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0D132-D9ED-4790-BBA6-C377EAB4E7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59F637-658C-4D14-8B4C-7AE23730FB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BDFE3-A3EC-4A0E-B5D0-4D3F6E7776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746693-169C-4AFE-8353-339CFDE377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8952A-575B-43EB-9BD5-264C019E55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02A3E-1635-4C20-B8B3-CC0E648928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3"/>
          <p:cNvGrpSpPr/>
          <p:nvPr/>
        </p:nvGrpSpPr>
        <p:grpSpPr>
          <a:xfrm>
            <a:off x="-15120" y="0"/>
            <a:ext cx="6104520" cy="10286640"/>
            <a:chOff x="-15120" y="0"/>
            <a:chExt cx="6104520" cy="10286640"/>
          </a:xfrm>
        </p:grpSpPr>
        <p:sp>
          <p:nvSpPr>
            <p:cNvPr id="63" name="Freeform 4"/>
            <p:cNvSpPr/>
            <p:nvPr/>
          </p:nvSpPr>
          <p:spPr>
            <a:xfrm>
              <a:off x="-15120" y="0"/>
              <a:ext cx="6104520" cy="10286640"/>
            </a:xfrm>
            <a:custGeom>
              <a:avLst/>
              <a:gdLst>
                <a:gd name="textAreaLeft" fmla="*/ 0 w 6104520"/>
                <a:gd name="textAreaRight" fmla="*/ 6104880 w 610452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8139811" h="13716000">
                  <a:moveTo>
                    <a:pt x="0" y="0"/>
                  </a:moveTo>
                  <a:lnTo>
                    <a:pt x="8139811" y="0"/>
                  </a:lnTo>
                  <a:lnTo>
                    <a:pt x="813981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465120" y="960120"/>
            <a:ext cx="5144400" cy="8419320"/>
            <a:chOff x="465120" y="960120"/>
            <a:chExt cx="5144400" cy="8419320"/>
          </a:xfrm>
        </p:grpSpPr>
        <p:sp>
          <p:nvSpPr>
            <p:cNvPr id="65" name="Freeform 6"/>
            <p:cNvSpPr/>
            <p:nvPr/>
          </p:nvSpPr>
          <p:spPr>
            <a:xfrm>
              <a:off x="465120" y="960120"/>
              <a:ext cx="5144400" cy="8419320"/>
            </a:xfrm>
            <a:custGeom>
              <a:avLst/>
              <a:gdLst>
                <a:gd name="textAreaLeft" fmla="*/ 0 w 5144400"/>
                <a:gd name="textAreaRight" fmla="*/ 5144760 w 514440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6859710" h="11226472">
                  <a:moveTo>
                    <a:pt x="0" y="0"/>
                  </a:moveTo>
                  <a:lnTo>
                    <a:pt x="6859710" y="0"/>
                  </a:lnTo>
                  <a:lnTo>
                    <a:pt x="685971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7"/>
            <p:cNvSpPr/>
            <p:nvPr/>
          </p:nvSpPr>
          <p:spPr>
            <a:xfrm>
              <a:off x="465120" y="1074240"/>
              <a:ext cx="5144400" cy="830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Project Presentation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8"/>
          <p:cNvSpPr/>
          <p:nvPr/>
        </p:nvSpPr>
        <p:spPr>
          <a:xfrm>
            <a:off x="7095600" y="3214800"/>
            <a:ext cx="10666440" cy="40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Project Title:” Loan Eligibility Verification and EMI Payment Tracking  System”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Course: Java Programming Lab / Mini Project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Student Name &amp; Roll No: GOKUL M – 25BCS112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Department: Computer Science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8520" lvl="1" indent="-244440" defTabSz="914400">
              <a:lnSpc>
                <a:spcPts val="2917"/>
              </a:lnSpc>
              <a:buClr>
                <a:srgbClr val="000000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Mentor / Guide:Aravind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9"/>
          <p:cNvGrpSpPr/>
          <p:nvPr/>
        </p:nvGrpSpPr>
        <p:grpSpPr>
          <a:xfrm>
            <a:off x="7049880" y="349920"/>
            <a:ext cx="10115640" cy="2528640"/>
            <a:chOff x="7049880" y="349920"/>
            <a:chExt cx="10115640" cy="2528640"/>
          </a:xfrm>
        </p:grpSpPr>
        <p:sp>
          <p:nvSpPr>
            <p:cNvPr id="69" name="Freeform 10" descr="A blue and red logo  AI-generated content may be incorrect."/>
            <p:cNvSpPr/>
            <p:nvPr/>
          </p:nvSpPr>
          <p:spPr>
            <a:xfrm>
              <a:off x="7049880" y="349920"/>
              <a:ext cx="10115640" cy="2528640"/>
            </a:xfrm>
            <a:custGeom>
              <a:avLst/>
              <a:gdLst>
                <a:gd name="textAreaLeft" fmla="*/ 0 w 10115640"/>
                <a:gd name="textAreaRight" fmla="*/ 10116000 w 10115640"/>
                <a:gd name="textAreaTop" fmla="*/ 0 h 2528640"/>
                <a:gd name="textAreaBottom" fmla="*/ 2529000 h 2528640"/>
              </a:gdLst>
              <a:ahLst/>
              <a:cxnLst/>
              <a:rect l="textAreaLeft" t="textAreaTop" r="textAreaRight" b="textAreaBottom"/>
              <a:pathLst>
                <a:path w="13487781" h="3371977">
                  <a:moveTo>
                    <a:pt x="0" y="0"/>
                  </a:moveTo>
                  <a:lnTo>
                    <a:pt x="13487781" y="0"/>
                  </a:lnTo>
                  <a:lnTo>
                    <a:pt x="13487781" y="3371977"/>
                  </a:lnTo>
                  <a:lnTo>
                    <a:pt x="0" y="337197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2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roup 5"/>
          <p:cNvGrpSpPr/>
          <p:nvPr/>
        </p:nvGrpSpPr>
        <p:grpSpPr>
          <a:xfrm>
            <a:off x="4178160" y="726840"/>
            <a:ext cx="13421880" cy="8821080"/>
            <a:chOff x="4178160" y="726840"/>
            <a:chExt cx="13421880" cy="8821080"/>
          </a:xfrm>
        </p:grpSpPr>
        <p:sp>
          <p:nvSpPr>
            <p:cNvPr id="74" name="Freeform 6"/>
            <p:cNvSpPr/>
            <p:nvPr/>
          </p:nvSpPr>
          <p:spPr>
            <a:xfrm>
              <a:off x="417816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76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Introduction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79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4796640" y="4050360"/>
            <a:ext cx="12581280" cy="34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21720" lvl="1" indent="-311040" defTabSz="914400">
              <a:lnSpc>
                <a:spcPts val="3110"/>
              </a:lnSpc>
              <a:buClr>
                <a:srgbClr val="1cade4"/>
              </a:buClr>
              <a:buFont typeface="Arial"/>
              <a:buChar char="•"/>
            </a:pPr>
            <a:r>
              <a:rPr lang="en-US" sz="288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This project is developed to automate loan eligibility checking and EMI tracking</a:t>
            </a:r>
            <a:endParaRPr lang="en-IN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1720" lvl="1" indent="-311040" defTabSz="914400">
              <a:lnSpc>
                <a:spcPts val="3110"/>
              </a:lnSpc>
              <a:buClr>
                <a:srgbClr val="1cade4"/>
              </a:buClr>
              <a:buFont typeface="Arial"/>
              <a:buChar char="•"/>
            </a:pPr>
            <a:r>
              <a:rPr lang="en-US" sz="288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Helps users calculate EMI easily</a:t>
            </a:r>
            <a:endParaRPr lang="en-IN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1720" lvl="1" indent="-311040" defTabSz="914400">
              <a:lnSpc>
                <a:spcPts val="3110"/>
              </a:lnSpc>
              <a:buClr>
                <a:srgbClr val="1cade4"/>
              </a:buClr>
              <a:buFont typeface="Arial"/>
              <a:buChar char="•"/>
            </a:pPr>
            <a:r>
              <a:rPr lang="en-US" sz="288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Reduces manual errors in financial calculations</a:t>
            </a:r>
            <a:endParaRPr lang="en-IN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1720" lvl="1" indent="-311040" defTabSz="914400">
              <a:lnSpc>
                <a:spcPts val="3110"/>
              </a:lnSpc>
              <a:buClr>
                <a:srgbClr val="1cade4"/>
              </a:buClr>
              <a:buFont typeface="Arial"/>
              <a:buChar char="•"/>
            </a:pPr>
            <a:r>
              <a:rPr lang="en-US" sz="288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Useful for individuals to manage loans efficiently</a:t>
            </a:r>
            <a:endParaRPr lang="en-IN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83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85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89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91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93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Objective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96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5249880" y="3789000"/>
            <a:ext cx="11793240" cy="43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Main goals of the project: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To verify loan eligibility based on income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To calculate EMI automatically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To track EMI payments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To apply Java programming concepts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To develop problem-solving skills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00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02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06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08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10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Problem Statement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13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5249880" y="3789000"/>
            <a:ext cx="11793240" cy="43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Manual loan calculation is difficult and time-consuming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High chance of errors in EMI calculation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No proper system to track EMI payments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Users find it hard to monitor loan progress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Solution: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 This project provides an automated system to solve these problems.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17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19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23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roup 5"/>
          <p:cNvGrpSpPr/>
          <p:nvPr/>
        </p:nvGrpSpPr>
        <p:grpSpPr>
          <a:xfrm>
            <a:off x="4168800" y="726840"/>
            <a:ext cx="13421880" cy="8821080"/>
            <a:chOff x="4168800" y="726840"/>
            <a:chExt cx="13421880" cy="8821080"/>
          </a:xfrm>
        </p:grpSpPr>
        <p:sp>
          <p:nvSpPr>
            <p:cNvPr id="125" name="Freeform 6"/>
            <p:cNvSpPr/>
            <p:nvPr/>
          </p:nvSpPr>
          <p:spPr>
            <a:xfrm>
              <a:off x="416880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27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System Requirements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30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5249880" y="3789000"/>
            <a:ext cx="11793240" cy="49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Hardware Requirements: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5640" lvl="1" indent="-243000" defTabSz="914400">
              <a:lnSpc>
                <a:spcPts val="2429"/>
              </a:lnSpc>
              <a:buClr>
                <a:srgbClr val="1cade4"/>
              </a:buClr>
              <a:buFont typeface="Arial"/>
              <a:buChar char="•"/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Processor: Intel i3 or higher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5640" lvl="1" indent="-243000" defTabSz="914400">
              <a:lnSpc>
                <a:spcPts val="2429"/>
              </a:lnSpc>
              <a:buClr>
                <a:srgbClr val="1cade4"/>
              </a:buClr>
              <a:buFont typeface="Arial"/>
              <a:buChar char="•"/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RAM: 4 GB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5640" lvl="1" indent="-243000" defTabSz="914400">
              <a:lnSpc>
                <a:spcPts val="2429"/>
              </a:lnSpc>
              <a:buClr>
                <a:srgbClr val="1cade4"/>
              </a:buClr>
              <a:buFont typeface="Arial"/>
              <a:buChar char="•"/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Storage: 500 MB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Software Requirements: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5640" lvl="1" indent="-243000" defTabSz="914400">
              <a:lnSpc>
                <a:spcPts val="2429"/>
              </a:lnSpc>
              <a:buClr>
                <a:srgbClr val="1cade4"/>
              </a:buClr>
              <a:buFont typeface="Arial"/>
              <a:buChar char="•"/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Operating System: Windows / Linux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5640" lvl="1" indent="-243000" defTabSz="914400">
              <a:lnSpc>
                <a:spcPts val="2429"/>
              </a:lnSpc>
              <a:buClr>
                <a:srgbClr val="1cade4"/>
              </a:buClr>
              <a:buFont typeface="Arial"/>
              <a:buChar char="•"/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Language: Java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5640" lvl="1" indent="-243000" defTabSz="914400">
              <a:lnSpc>
                <a:spcPts val="2429"/>
              </a:lnSpc>
              <a:buClr>
                <a:srgbClr val="1cade4"/>
              </a:buClr>
              <a:buFont typeface="Arial"/>
              <a:buChar char="•"/>
            </a:pPr>
            <a:r>
              <a:rPr lang="en-US" sz="225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Tools: JDK, VS Code / IntelliJ / Eclipse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34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36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40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42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44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System Design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47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3"/>
          <p:cNvSpPr/>
          <p:nvPr/>
        </p:nvSpPr>
        <p:spPr>
          <a:xfrm>
            <a:off x="4973400" y="3441600"/>
            <a:ext cx="11793240" cy="54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System workflow: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User enters financial details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System checks eligibility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EMI is calculated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Payment tracking is performed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Include: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Flowchart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2840" lvl="1" indent="-291600" defTabSz="914400">
              <a:lnSpc>
                <a:spcPts val="2917"/>
              </a:lnSpc>
              <a:buClr>
                <a:srgbClr val="1cade4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Algorithm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7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51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53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57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59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61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Module Description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64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3"/>
          <p:cNvSpPr/>
          <p:nvPr/>
        </p:nvSpPr>
        <p:spPr>
          <a:xfrm>
            <a:off x="4973400" y="3575880"/>
            <a:ext cx="11793240" cy="45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0"/>
              </a:lnSpc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Input Module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7640" lvl="1" indent="-324000" defTabSz="914400">
              <a:lnSpc>
                <a:spcPts val="3240"/>
              </a:lnSpc>
              <a:buClr>
                <a:srgbClr val="1cade4"/>
              </a:buClr>
              <a:buFont typeface="Arial"/>
              <a:buChar char="•"/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Takes income, loan amount, interest rate, duration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Processing Module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7640" lvl="1" indent="-324000" defTabSz="914400">
              <a:lnSpc>
                <a:spcPts val="3240"/>
              </a:lnSpc>
              <a:buClr>
                <a:srgbClr val="1cade4"/>
              </a:buClr>
              <a:buFont typeface="Arial"/>
              <a:buChar char="•"/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Checks eligibility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7640" lvl="1" indent="-324000" defTabSz="914400">
              <a:lnSpc>
                <a:spcPts val="3240"/>
              </a:lnSpc>
              <a:buClr>
                <a:srgbClr val="1cade4"/>
              </a:buClr>
              <a:buFont typeface="Arial"/>
              <a:buChar char="•"/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Calculates EMI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Tracking Module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7640" lvl="1" indent="-324000" defTabSz="914400">
              <a:lnSpc>
                <a:spcPts val="3240"/>
              </a:lnSpc>
              <a:buClr>
                <a:srgbClr val="1cade4"/>
              </a:buClr>
              <a:buFont typeface="Arial"/>
              <a:buChar char="•"/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Tracks paid EMIs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7640" lvl="1" indent="-324000" defTabSz="914400">
              <a:lnSpc>
                <a:spcPts val="3240"/>
              </a:lnSpc>
              <a:buClr>
                <a:srgbClr val="1cade4"/>
              </a:buClr>
              <a:buFont typeface="Arial"/>
              <a:buChar char="•"/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Calculates remaining EMIs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Output Module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7640" lvl="1" indent="-324000" defTabSz="914400">
              <a:lnSpc>
                <a:spcPts val="3240"/>
              </a:lnSpc>
              <a:buClr>
                <a:srgbClr val="1cade4"/>
              </a:buClr>
              <a:buFont typeface="Arial"/>
              <a:buChar char="•"/>
            </a:pPr>
            <a:r>
              <a:rPr lang="en-US" sz="300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Displays results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68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9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70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3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74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76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78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Algorithm / Flowchart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0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81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5249880" y="3789000"/>
            <a:ext cx="8174160" cy="456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Start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Enter income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Enter loan details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Check eligibility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If eligible → calculate EMI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Enter EMIs paid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Display remaining EMIs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1" indent="-403920" defTabSz="914400">
              <a:lnSpc>
                <a:spcPts val="4042"/>
              </a:lnSpc>
              <a:buClr>
                <a:srgbClr val="1cade4"/>
              </a:buClr>
              <a:buFont typeface="Arial"/>
              <a:buChar char="•"/>
            </a:pPr>
            <a:r>
              <a:rPr lang="en-US" sz="374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Stop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42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4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185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187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91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2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193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195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Implementation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198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5249880" y="3817800"/>
            <a:ext cx="9439200" cy="35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6"/>
              </a:lnSpc>
            </a:pPr>
            <a:r>
              <a:rPr lang="en-US" sz="432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Techniques used:</a:t>
            </a:r>
            <a:endParaRPr lang="en-IN" sz="4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120" lvl="1" indent="-466560" defTabSz="914400">
              <a:lnSpc>
                <a:spcPts val="4666"/>
              </a:lnSpc>
              <a:buClr>
                <a:srgbClr val="1cade4"/>
              </a:buClr>
              <a:buFont typeface="Arial"/>
              <a:buChar char="•"/>
            </a:pPr>
            <a:r>
              <a:rPr lang="en-US" sz="432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Java programming</a:t>
            </a:r>
            <a:endParaRPr lang="en-IN" sz="4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120" lvl="1" indent="-466560" defTabSz="914400">
              <a:lnSpc>
                <a:spcPts val="4666"/>
              </a:lnSpc>
              <a:buClr>
                <a:srgbClr val="1cade4"/>
              </a:buClr>
              <a:buFont typeface="Arial"/>
              <a:buChar char="•"/>
            </a:pPr>
            <a:r>
              <a:rPr lang="en-US" sz="432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Conditional statements (if-else)</a:t>
            </a:r>
            <a:endParaRPr lang="en-IN" sz="4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120" lvl="1" indent="-466560" defTabSz="914400">
              <a:lnSpc>
                <a:spcPts val="4666"/>
              </a:lnSpc>
              <a:buClr>
                <a:srgbClr val="1cade4"/>
              </a:buClr>
              <a:buFont typeface="Arial"/>
              <a:buChar char="•"/>
            </a:pPr>
            <a:r>
              <a:rPr lang="en-US" sz="432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Functions (EMI calculation)</a:t>
            </a:r>
            <a:endParaRPr lang="en-IN" sz="4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120" lvl="1" indent="-466560" defTabSz="914400">
              <a:lnSpc>
                <a:spcPts val="4666"/>
              </a:lnSpc>
              <a:buClr>
                <a:srgbClr val="1cade4"/>
              </a:buClr>
              <a:buFont typeface="Arial"/>
              <a:buChar char="•"/>
            </a:pPr>
            <a:r>
              <a:rPr lang="en-US" sz="432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Scanner class for input</a:t>
            </a:r>
            <a:endParaRPr lang="en-IN" sz="4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66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1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02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04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7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08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210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12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Output Screens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15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6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3"/>
          <p:cNvSpPr/>
          <p:nvPr/>
        </p:nvSpPr>
        <p:spPr>
          <a:xfrm>
            <a:off x="6623640" y="3450960"/>
            <a:ext cx="6000480" cy="51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36"/>
              </a:lnSpc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Input: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Income: 30000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Loan: 100000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Interest: 10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Time: 2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EMIs Paid: 10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736"/>
              </a:lnSpc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Output: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Eligible for loan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EMI: 4614.49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7000" lvl="1" indent="-373680" defTabSz="914400">
              <a:lnSpc>
                <a:spcPts val="3736"/>
              </a:lnSpc>
              <a:buClr>
                <a:srgbClr val="1cade4"/>
              </a:buClr>
              <a:buFont typeface="Arial"/>
              <a:buChar char="•"/>
            </a:pPr>
            <a:r>
              <a:rPr lang="en-US" sz="345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Remaining EMIs: 14</a:t>
            </a:r>
            <a:endParaRPr lang="en-IN" sz="34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736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8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19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0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21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4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25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6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227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8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29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Results &amp; Discussion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1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32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3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3"/>
          <p:cNvSpPr/>
          <p:nvPr/>
        </p:nvSpPr>
        <p:spPr>
          <a:xfrm>
            <a:off x="5249880" y="3798720"/>
            <a:ext cx="9788760" cy="38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75800" lvl="1" indent="-387720" defTabSz="914400">
              <a:lnSpc>
                <a:spcPts val="3881"/>
              </a:lnSpc>
              <a:buClr>
                <a:srgbClr val="1cade4"/>
              </a:buClr>
              <a:buFont typeface="Arial"/>
              <a:buChar char="•"/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System gives accurate EMI calculation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5800" lvl="1" indent="-387720" defTabSz="914400">
              <a:lnSpc>
                <a:spcPts val="3881"/>
              </a:lnSpc>
              <a:buClr>
                <a:srgbClr val="1cade4"/>
              </a:buClr>
              <a:buFont typeface="Arial"/>
              <a:buChar char="•"/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Eligibility check works correctly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5800" lvl="1" indent="-387720" defTabSz="914400">
              <a:lnSpc>
                <a:spcPts val="3881"/>
              </a:lnSpc>
              <a:buClr>
                <a:srgbClr val="1cade4"/>
              </a:buClr>
              <a:buFont typeface="Arial"/>
              <a:buChar char="•"/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Easy to use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5800" lvl="1" indent="-387720" defTabSz="914400">
              <a:lnSpc>
                <a:spcPts val="3881"/>
              </a:lnSpc>
              <a:buClr>
                <a:srgbClr val="1cade4"/>
              </a:buClr>
              <a:buFont typeface="Arial"/>
              <a:buChar char="•"/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Saves time and effort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81"/>
              </a:lnSpc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Challenges: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5800" lvl="1" indent="-387720" defTabSz="914400">
              <a:lnSpc>
                <a:spcPts val="3881"/>
              </a:lnSpc>
              <a:buClr>
                <a:srgbClr val="1cade4"/>
              </a:buClr>
              <a:buFont typeface="Arial"/>
              <a:buChar char="•"/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Understanding EMI formula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5800" lvl="1" indent="-387720" defTabSz="914400">
              <a:lnSpc>
                <a:spcPts val="3881"/>
              </a:lnSpc>
              <a:buClr>
                <a:srgbClr val="1cade4"/>
              </a:buClr>
              <a:buFont typeface="Arial"/>
              <a:buChar char="•"/>
            </a:pPr>
            <a:r>
              <a:rPr lang="en-US" sz="359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Handling user input</a:t>
            </a:r>
            <a:endParaRPr lang="en-IN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81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36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38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1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42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3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244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5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46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Conclusion &amp; Future Enhancement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8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49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0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5249880" y="3798720"/>
            <a:ext cx="9016200" cy="49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98"/>
              </a:lnSpc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Conclusion: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Project successfully meets objectives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Automates loan calculation process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Improves accuracy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98"/>
              </a:lnSpc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Future Enhancements: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Add GUI interface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Add database storage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Multi-user system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9400" lvl="1" indent="-389520" defTabSz="914400">
              <a:lnSpc>
                <a:spcPts val="3898"/>
              </a:lnSpc>
              <a:buClr>
                <a:srgbClr val="1cade4"/>
              </a:buClr>
              <a:buFont typeface="Arial"/>
              <a:buChar char="•"/>
            </a:pPr>
            <a:r>
              <a:rPr lang="en-US" sz="3609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Mobile app version</a:t>
            </a:r>
            <a:endParaRPr lang="en-IN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98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2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53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4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55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8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59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0" name="Group 5"/>
          <p:cNvGrpSpPr/>
          <p:nvPr/>
        </p:nvGrpSpPr>
        <p:grpSpPr>
          <a:xfrm>
            <a:off x="4159080" y="726840"/>
            <a:ext cx="13421880" cy="8821080"/>
            <a:chOff x="4159080" y="726840"/>
            <a:chExt cx="13421880" cy="8821080"/>
          </a:xfrm>
        </p:grpSpPr>
        <p:sp>
          <p:nvSpPr>
            <p:cNvPr id="261" name="Freeform 6"/>
            <p:cNvSpPr/>
            <p:nvPr/>
          </p:nvSpPr>
          <p:spPr>
            <a:xfrm>
              <a:off x="4159080" y="726840"/>
              <a:ext cx="13421880" cy="8821080"/>
            </a:xfrm>
            <a:custGeom>
              <a:avLst/>
              <a:gdLst>
                <a:gd name="textAreaLeft" fmla="*/ 0 w 13421880"/>
                <a:gd name="textAreaRight" fmla="*/ 13422240 w 1342188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17896332" h="11761851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2" name="Group 7"/>
          <p:cNvGrpSpPr/>
          <p:nvPr/>
        </p:nvGrpSpPr>
        <p:grpSpPr>
          <a:xfrm>
            <a:off x="5204160" y="1182600"/>
            <a:ext cx="11884680" cy="2249280"/>
            <a:chOff x="5204160" y="1182600"/>
            <a:chExt cx="11884680" cy="2249280"/>
          </a:xfrm>
        </p:grpSpPr>
        <p:sp>
          <p:nvSpPr>
            <p:cNvPr id="263" name="Freeform 8"/>
            <p:cNvSpPr/>
            <p:nvPr/>
          </p:nvSpPr>
          <p:spPr>
            <a:xfrm>
              <a:off x="5204160" y="1182600"/>
              <a:ext cx="11884680" cy="2248920"/>
            </a:xfrm>
            <a:custGeom>
              <a:avLst/>
              <a:gdLst>
                <a:gd name="textAreaLeft" fmla="*/ 0 w 11884680"/>
                <a:gd name="textAreaRight" fmla="*/ 11885040 w 1188468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15846529" h="2999232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TextBox 9"/>
            <p:cNvSpPr/>
            <p:nvPr/>
          </p:nvSpPr>
          <p:spPr>
            <a:xfrm>
              <a:off x="5204160" y="1297080"/>
              <a:ext cx="1188468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References / Acknowledgement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5" name="Group 10"/>
          <p:cNvGrpSpPr/>
          <p:nvPr/>
        </p:nvGrpSpPr>
        <p:grpSpPr>
          <a:xfrm>
            <a:off x="712800" y="726840"/>
            <a:ext cx="3193200" cy="8821080"/>
            <a:chOff x="712800" y="726840"/>
            <a:chExt cx="3193200" cy="8821080"/>
          </a:xfrm>
        </p:grpSpPr>
        <p:sp>
          <p:nvSpPr>
            <p:cNvPr id="266" name="Freeform 11"/>
            <p:cNvSpPr/>
            <p:nvPr/>
          </p:nvSpPr>
          <p:spPr>
            <a:xfrm>
              <a:off x="712800" y="726840"/>
              <a:ext cx="3193200" cy="8821080"/>
            </a:xfrm>
            <a:custGeom>
              <a:avLst/>
              <a:gdLst>
                <a:gd name="textAreaLeft" fmla="*/ 0 w 3193200"/>
                <a:gd name="textAreaRight" fmla="*/ 3193560 w 3193200"/>
                <a:gd name="textAreaTop" fmla="*/ 0 h 8821080"/>
                <a:gd name="textAreaBottom" fmla="*/ 8821440 h 8821080"/>
              </a:gdLst>
              <a:ahLst/>
              <a:cxnLst/>
              <a:rect l="textAreaLeft" t="textAreaTop" r="textAreaRight" b="textAreaBottom"/>
              <a:pathLst>
                <a:path w="4257929" h="11761851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7" name="AutoShape 12"/>
          <p:cNvSpPr/>
          <p:nvPr/>
        </p:nvSpPr>
        <p:spPr>
          <a:xfrm flipV="1">
            <a:off x="4796280" y="1520280"/>
            <a:ext cx="28800" cy="140004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5249880" y="3808080"/>
            <a:ext cx="10258200" cy="39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99"/>
              </a:lnSpc>
            </a:pPr>
            <a:r>
              <a:rPr lang="en-US" sz="416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References:</a:t>
            </a:r>
            <a:endParaRPr lang="en-IN" sz="4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9280" lvl="1" indent="-449640" defTabSz="914400">
              <a:lnSpc>
                <a:spcPts val="4499"/>
              </a:lnSpc>
              <a:buClr>
                <a:srgbClr val="1cade4"/>
              </a:buClr>
              <a:buFont typeface="Arial"/>
              <a:buChar char="•"/>
            </a:pPr>
            <a:r>
              <a:rPr lang="en-US" sz="416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Java Programming Books</a:t>
            </a:r>
            <a:endParaRPr lang="en-IN" sz="4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9280" lvl="1" indent="-449640" defTabSz="914400">
              <a:lnSpc>
                <a:spcPts val="4499"/>
              </a:lnSpc>
              <a:buClr>
                <a:srgbClr val="1cade4"/>
              </a:buClr>
              <a:buFont typeface="Arial"/>
              <a:buChar char="•"/>
            </a:pPr>
            <a:r>
              <a:rPr lang="en-US" sz="416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GeeksforGeeks</a:t>
            </a:r>
            <a:endParaRPr lang="en-IN" sz="4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9280" lvl="1" indent="-449640" defTabSz="914400">
              <a:lnSpc>
                <a:spcPts val="4499"/>
              </a:lnSpc>
              <a:buClr>
                <a:srgbClr val="1cade4"/>
              </a:buClr>
              <a:buFont typeface="Arial"/>
              <a:buChar char="•"/>
            </a:pPr>
            <a:r>
              <a:rPr lang="en-US" sz="416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W3Schools</a:t>
            </a:r>
            <a:endParaRPr lang="en-IN" sz="4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99"/>
              </a:lnSpc>
            </a:pPr>
            <a:r>
              <a:rPr lang="en-US" sz="416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Acknowledgement:</a:t>
            </a:r>
            <a:endParaRPr lang="en-IN" sz="4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9280" lvl="1" indent="-449640" defTabSz="914400">
              <a:lnSpc>
                <a:spcPts val="4499"/>
              </a:lnSpc>
              <a:buClr>
                <a:srgbClr val="1cade4"/>
              </a:buClr>
              <a:buFont typeface="Arial"/>
              <a:buChar char="•"/>
            </a:pPr>
            <a:r>
              <a:rPr lang="en-US" sz="4160" b="0" u="none" strike="noStrike">
                <a:solidFill>
                  <a:srgbClr val="1cade4"/>
                </a:solidFill>
                <a:effectLst/>
                <a:uFillTx/>
                <a:latin typeface="Arimo"/>
                <a:ea typeface="Arimo"/>
              </a:rPr>
              <a:t>Thanks to my guide and department</a:t>
            </a:r>
            <a:endParaRPr lang="en-IN" sz="4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9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Group 14"/>
          <p:cNvGrpSpPr/>
          <p:nvPr/>
        </p:nvGrpSpPr>
        <p:grpSpPr>
          <a:xfrm>
            <a:off x="849600" y="982080"/>
            <a:ext cx="2816640" cy="703800"/>
            <a:chOff x="849600" y="982080"/>
            <a:chExt cx="2816640" cy="703800"/>
          </a:xfrm>
        </p:grpSpPr>
        <p:sp>
          <p:nvSpPr>
            <p:cNvPr id="270" name="Freeform 15" descr="A blue and red logo  AI-generated content may be incorrect."/>
            <p:cNvSpPr/>
            <p:nvPr/>
          </p:nvSpPr>
          <p:spPr>
            <a:xfrm>
              <a:off x="849600" y="982080"/>
              <a:ext cx="2816640" cy="70380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3756025" h="939038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r="-33333" b="-33350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1" name="Group 16"/>
          <p:cNvGrpSpPr/>
          <p:nvPr/>
        </p:nvGrpSpPr>
        <p:grpSpPr>
          <a:xfrm>
            <a:off x="849600" y="884880"/>
            <a:ext cx="2816640" cy="8419680"/>
            <a:chOff x="849600" y="884880"/>
            <a:chExt cx="2816640" cy="8419680"/>
          </a:xfrm>
        </p:grpSpPr>
        <p:sp>
          <p:nvSpPr>
            <p:cNvPr id="272" name="Freeform 17"/>
            <p:cNvSpPr/>
            <p:nvPr/>
          </p:nvSpPr>
          <p:spPr>
            <a:xfrm>
              <a:off x="849600" y="884880"/>
              <a:ext cx="2816640" cy="8419320"/>
            </a:xfrm>
            <a:custGeom>
              <a:avLst/>
              <a:gdLst>
                <a:gd name="textAreaLeft" fmla="*/ 0 w 2816640"/>
                <a:gd name="textAreaRight" fmla="*/ 2817000 w 2816640"/>
                <a:gd name="textAreaTop" fmla="*/ 0 h 8419320"/>
                <a:gd name="textAreaBottom" fmla="*/ 8419680 h 8419320"/>
              </a:gdLst>
              <a:ahLst/>
              <a:cxnLst/>
              <a:rect l="textAreaLeft" t="textAreaTop" r="textAreaRight" b="textAreaBottom"/>
              <a:pathLst>
                <a:path w="3755980" h="11226472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TextBox 18"/>
            <p:cNvSpPr/>
            <p:nvPr/>
          </p:nvSpPr>
          <p:spPr>
            <a:xfrm>
              <a:off x="849600" y="934920"/>
              <a:ext cx="2816640" cy="836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80"/>
                </a:lnSpc>
              </a:pPr>
              <a:r>
                <a:rPr lang="en-US" sz="3000" b="0" u="none" spc="156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java Programming Project Presentation</a:t>
              </a:r>
              <a:endParaRPr lang="en-IN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AutoShape 2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5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76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7" name="Group 5"/>
          <p:cNvGrpSpPr/>
          <p:nvPr/>
        </p:nvGrpSpPr>
        <p:grpSpPr>
          <a:xfrm>
            <a:off x="491400" y="482760"/>
            <a:ext cx="17326440" cy="9321480"/>
            <a:chOff x="491400" y="482760"/>
            <a:chExt cx="17326440" cy="9321480"/>
          </a:xfrm>
        </p:grpSpPr>
        <p:sp>
          <p:nvSpPr>
            <p:cNvPr id="278" name="Freeform 6"/>
            <p:cNvSpPr/>
            <p:nvPr/>
          </p:nvSpPr>
          <p:spPr>
            <a:xfrm>
              <a:off x="491400" y="482760"/>
              <a:ext cx="17326440" cy="9321480"/>
            </a:xfrm>
            <a:custGeom>
              <a:avLst/>
              <a:gdLst>
                <a:gd name="textAreaLeft" fmla="*/ 0 w 17326440"/>
                <a:gd name="textAreaRight" fmla="*/ 17326800 w 17326440"/>
                <a:gd name="textAreaTop" fmla="*/ 0 h 9321480"/>
                <a:gd name="textAreaBottom" fmla="*/ 9321840 h 9321480"/>
              </a:gdLst>
              <a:ahLst/>
              <a:cxnLst/>
              <a:rect l="textAreaLeft" t="textAreaTop" r="textAreaRight" b="textAreaBottom"/>
              <a:pathLst>
                <a:path w="23102315" h="12429109">
                  <a:moveTo>
                    <a:pt x="0" y="0"/>
                  </a:moveTo>
                  <a:lnTo>
                    <a:pt x="23102315" y="0"/>
                  </a:lnTo>
                  <a:lnTo>
                    <a:pt x="23102315" y="12429109"/>
                  </a:lnTo>
                  <a:lnTo>
                    <a:pt x="0" y="12429109"/>
                  </a:lnTo>
                  <a:close/>
                </a:path>
              </a:pathLst>
            </a:custGeom>
            <a:solidFill>
              <a:srgbClr val="1cad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9" name="Group 7"/>
          <p:cNvGrpSpPr/>
          <p:nvPr/>
        </p:nvGrpSpPr>
        <p:grpSpPr>
          <a:xfrm>
            <a:off x="2323440" y="1694880"/>
            <a:ext cx="15494040" cy="2248920"/>
            <a:chOff x="2323440" y="1694880"/>
            <a:chExt cx="15494040" cy="2248920"/>
          </a:xfrm>
        </p:grpSpPr>
        <p:sp>
          <p:nvSpPr>
            <p:cNvPr id="280" name="Freeform 8"/>
            <p:cNvSpPr/>
            <p:nvPr/>
          </p:nvSpPr>
          <p:spPr>
            <a:xfrm>
              <a:off x="2323440" y="1694880"/>
              <a:ext cx="15494040" cy="2248920"/>
            </a:xfrm>
            <a:custGeom>
              <a:avLst/>
              <a:gdLst>
                <a:gd name="textAreaLeft" fmla="*/ 0 w 15494040"/>
                <a:gd name="textAreaRight" fmla="*/ 15494400 w 15494040"/>
                <a:gd name="textAreaTop" fmla="*/ 0 h 2248920"/>
                <a:gd name="textAreaBottom" fmla="*/ 2249280 h 2248920"/>
              </a:gdLst>
              <a:ahLst/>
              <a:cxnLst/>
              <a:rect l="textAreaLeft" t="textAreaTop" r="textAreaRight" b="textAreaBottom"/>
              <a:pathLst>
                <a:path w="20659342" h="2999232">
                  <a:moveTo>
                    <a:pt x="0" y="0"/>
                  </a:moveTo>
                  <a:lnTo>
                    <a:pt x="20659342" y="0"/>
                  </a:lnTo>
                  <a:lnTo>
                    <a:pt x="20659342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TextBox 9"/>
            <p:cNvSpPr/>
            <p:nvPr/>
          </p:nvSpPr>
          <p:spPr>
            <a:xfrm>
              <a:off x="2323440" y="1809000"/>
              <a:ext cx="15494040" cy="21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200"/>
                </a:lnSpc>
              </a:pPr>
              <a:r>
                <a:rPr lang="en-US" sz="7500" b="0" u="none" spc="164" strike="noStrike">
                  <a:solidFill>
                    <a:srgbClr val="ffffff"/>
                  </a:solidFill>
                  <a:effectLst/>
                  <a:uFillTx/>
                  <a:latin typeface="Big Shoulders Display"/>
                  <a:ea typeface="Big Shoulders Display"/>
                </a:rPr>
                <a:t>Thank You</a:t>
              </a:r>
              <a:endParaRPr lang="en-IN" sz="7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2" name="AutoShape 10"/>
          <p:cNvSpPr/>
          <p:nvPr/>
        </p:nvSpPr>
        <p:spPr>
          <a:xfrm flipV="1">
            <a:off x="1128600" y="1215360"/>
            <a:ext cx="28440" cy="1400400"/>
          </a:xfrm>
          <a:prstGeom prst="line">
            <a:avLst/>
          </a:prstGeom>
          <a:ln cap="rnd" w="19050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DAHGYLsvevo</dc:identifier>
  <dc:language>en-IN</dc:language>
  <cp:lastModifiedBy/>
  <dcterms:modified xsi:type="dcterms:W3CDTF">2026-04-10T09:01:04Z</dcterms:modified>
  <cp:revision>2</cp:revision>
  <dc:subject/>
  <dc:title>Java Programming Project Presentation Project Title: Loan Eligibility Verification and EMI Payment Tracking System Course: Java Programming Lab / Mini Project Student Name &amp; Roll No: GOKUL M – 25BCS112 Department: Computer Science Mentor / Guide: (Enter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